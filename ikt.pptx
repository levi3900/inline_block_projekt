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4" autoAdjust="0"/>
    <p:restoredTop sz="94660"/>
  </p:normalViewPr>
  <p:slideViewPr>
    <p:cSldViewPr snapToGrid="0">
      <p:cViewPr>
        <p:scale>
          <a:sx n="50" d="100"/>
          <a:sy n="50" d="100"/>
        </p:scale>
        <p:origin x="19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14853-EB7B-4DFE-ADE2-0CB30EE58B25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C3F28-FA10-4C1B-A704-3244CABECC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249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C3F28-FA10-4C1B-A704-3244CABECC4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706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1F9B9F-A40C-7E3A-BE2D-1D56A4985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6B50AF9-ED3F-2D2E-2867-7FB2BC0C4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5A57DC2-55EB-E911-6506-0A581884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9DD4DE-A3FF-0927-5C30-CA2691F1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59F721-63DE-0D8C-3CEB-C03635DF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1467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166221-0A93-BBDB-B0B6-D767F21E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16A6E4-A98C-1103-D357-38380B6D8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69A2AA-5D7B-1954-72C1-56886336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A299CE-F750-7421-8519-263E6B3E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4EB1DF-5C44-6505-523B-9A3161E6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917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14CE9C-8F1D-056D-7E43-F631333C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AE5504E-5108-42F0-1294-F8ECB4E7F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3AA8D6C-84D9-166F-3C96-EE20B473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AFDE46-2A89-764D-BB76-EF4978C90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C2127B-45E2-9E08-BDC4-547B95DA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600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F40F1A-374A-321B-4AA3-05CC6CAB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3F1A96D-E272-CDC5-AFEF-2B342414F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8641387-F137-8D02-D555-72722FBF2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42CD4AA-461F-49F0-3BF5-E8170100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A4E35B1-B605-664B-C942-B521FBF7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B925690-EEB4-38BE-2225-3E618414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937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329E96-4785-2E9F-A5D0-FF9F712F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B40F278-7DD1-310F-E419-A210D76A2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FE44D44-FBF2-0D36-15AB-2A990050B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1B574EB-0BE5-5312-FBD9-E8FD6B91E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F3C8465-426E-AE99-FBA1-D98297A6C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5397ACB-1556-3262-64F7-BE36CECE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2C036D8-DBCE-177A-E47E-0AF454AA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2136036-E515-1249-436B-C0EE83B4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816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CA3E13-4BA4-DEDF-785D-C9A3C778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1E0E1E1-CAD9-C967-ED8A-2DB2A3CB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DEBE990-8A5C-E9D1-00E3-9E2F7FAC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E5B009B-12E4-0305-FA5E-4F07E113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909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6AB81C7-BF1B-B552-80E0-DBB742F2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33FF45A-E468-29AC-6DB5-3635A5EC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036A6BB-B04C-323F-5B68-D023F62E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940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080AD4-5797-A703-2288-23E072D9A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5B877F-9C37-6F94-9F8F-4CB5BD274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10B4598-CAFC-510F-3FEA-7D44BC94C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880900F-431C-4335-F3B6-1AE2773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3BC2D33-107F-9801-BF77-481569B0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CD6EC76-C6BD-6BDC-4FDA-ACA5C902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093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BC00D3-AC82-2B9C-8BAE-7165CFCC0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BA9D39E-BF84-6F5E-7D73-262B63A3B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557B071-BC06-7870-4F30-4B4D85A4B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9015178-0386-5E8C-9D1E-70EC0DAA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12B0176-5F61-B317-31DC-5FD97281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5D80A96-43E7-24A6-35AB-1E6368C8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727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3ACA96-FB6C-F1C2-CE2A-FB0155EB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092F504-0C76-1000-7336-B9B8268AA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0E3E88A-FADB-14F2-5242-737E6457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5CD6C1E-068E-DE4B-7290-6B408C3E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A98289-E576-275F-91BD-3AD73F12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8267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DAAB0CF-1A17-5193-BC0B-C9265F0A6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A33B1B3-44A2-8D38-F605-3769B6462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895DE13-B021-6F8F-DCAE-F920FC71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6D6DCF-35B6-AC47-1B79-C6427DA1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061A6E-1861-1EBE-7979-AE90CC4D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577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947C025-F6C1-1274-47B8-9521BF69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BC0F46-4331-13B6-24F0-7231F96AA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DF1904-D879-F789-9A6D-90B0A6066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286CA-13EC-48CF-813B-D70B209963BA}" type="datetimeFigureOut">
              <a:rPr lang="hu-HU" smtClean="0"/>
              <a:t>2025. 12. 31.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863BFE2-AAF8-AF9D-7040-492C43A2F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725198F-DC66-DEF1-C3B9-FF5468F02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8F526-969D-4E48-A29D-7B83D6D165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652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93FFDF16-417D-D9DD-0FFE-15EC84FAD9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2000">
                <a:schemeClr val="tx1">
                  <a:alpha val="0"/>
                </a:schemeClr>
              </a:gs>
              <a:gs pos="100000">
                <a:schemeClr val="tx1">
                  <a:lumMod val="95000"/>
                  <a:lumOff val="5000"/>
                  <a:alpha val="6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5AAFC66-0039-8CB6-F48E-7D05DF081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8885" y="1494971"/>
            <a:ext cx="8681358" cy="2039257"/>
          </a:xfrm>
        </p:spPr>
        <p:txBody>
          <a:bodyPr>
            <a:normAutofit/>
          </a:bodyPr>
          <a:lstStyle/>
          <a:p>
            <a:r>
              <a:rPr lang="hu-HU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Blokk, </a:t>
            </a:r>
            <a:r>
              <a:rPr lang="hu-HU" sz="4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</a:t>
            </a:r>
            <a:r>
              <a:rPr lang="hu-HU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 és </a:t>
            </a:r>
            <a:r>
              <a:rPr lang="hu-HU" sz="4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inline-block</a:t>
            </a:r>
            <a:endParaRPr lang="hu-HU" sz="4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A509BB3-A143-469E-474A-945F16175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6243" y="3534228"/>
            <a:ext cx="9144000" cy="1655762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Aptos Display" panose="020B0004020202020204" pitchFamily="34" charset="0"/>
              </a:rPr>
              <a:t>Készítette: Kovács Levente</a:t>
            </a:r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1267EDE5-CEC5-9766-32F7-D1E783B7D46C}"/>
              </a:ext>
            </a:extLst>
          </p:cNvPr>
          <p:cNvGrpSpPr/>
          <p:nvPr/>
        </p:nvGrpSpPr>
        <p:grpSpPr>
          <a:xfrm>
            <a:off x="-4979984" y="-1538514"/>
            <a:ext cx="9978572" cy="9978572"/>
            <a:chOff x="-4989286" y="-1306285"/>
            <a:chExt cx="9978572" cy="9978572"/>
          </a:xfrm>
        </p:grpSpPr>
        <p:sp>
          <p:nvSpPr>
            <p:cNvPr id="6" name="Folyamatábra: Összegzés 5">
              <a:extLst>
                <a:ext uri="{FF2B5EF4-FFF2-40B4-BE49-F238E27FC236}">
                  <a16:creationId xmlns:a16="http://schemas.microsoft.com/office/drawing/2014/main" id="{62415CBC-BDB4-78B3-CAC9-C5B6FA4BDF2A}"/>
                </a:ext>
              </a:extLst>
            </p:cNvPr>
            <p:cNvSpPr/>
            <p:nvPr/>
          </p:nvSpPr>
          <p:spPr>
            <a:xfrm>
              <a:off x="-4989286" y="-1306285"/>
              <a:ext cx="9978572" cy="9978572"/>
            </a:xfrm>
            <a:prstGeom prst="flowChartSummingJuncti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  <a:effectLst>
              <a:outerShdw blurRad="1041400" dist="38100" dir="2700000" sx="111000" sy="111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Cím 1">
              <a:extLst>
                <a:ext uri="{FF2B5EF4-FFF2-40B4-BE49-F238E27FC236}">
                  <a16:creationId xmlns:a16="http://schemas.microsoft.com/office/drawing/2014/main" id="{228912BE-3057-0351-2630-601FBBCC1C9C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1487145" y="2514599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Bevezető</a:t>
              </a:r>
            </a:p>
          </p:txBody>
        </p:sp>
        <p:sp>
          <p:nvSpPr>
            <p:cNvPr id="8" name="Cím 1">
              <a:extLst>
                <a:ext uri="{FF2B5EF4-FFF2-40B4-BE49-F238E27FC236}">
                  <a16:creationId xmlns:a16="http://schemas.microsoft.com/office/drawing/2014/main" id="{D454916A-3E5D-57DE-5993-ADB9990109CC}"/>
                </a:ext>
              </a:extLst>
            </p:cNvPr>
            <p:cNvSpPr txBox="1">
              <a:spLocks/>
            </p:cNvSpPr>
            <p:nvPr/>
          </p:nvSpPr>
          <p:spPr>
            <a:xfrm>
              <a:off x="-1822112" y="-544286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Blokk</a:t>
              </a:r>
            </a:p>
          </p:txBody>
        </p:sp>
        <p:sp>
          <p:nvSpPr>
            <p:cNvPr id="9" name="Cím 1">
              <a:extLst>
                <a:ext uri="{FF2B5EF4-FFF2-40B4-BE49-F238E27FC236}">
                  <a16:creationId xmlns:a16="http://schemas.microsoft.com/office/drawing/2014/main" id="{7FCA9ED0-6EEB-8804-F8BE-AF5F1359F1A1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4798339" y="2663372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Cím 1">
              <a:extLst>
                <a:ext uri="{FF2B5EF4-FFF2-40B4-BE49-F238E27FC236}">
                  <a16:creationId xmlns:a16="http://schemas.microsoft.com/office/drawing/2014/main" id="{D5A1ED64-2034-7716-63F0-1896DBAF9CFF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-2630663" y="5838371"/>
              <a:ext cx="5242722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Inline-block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1" name="Ellipszis 10">
            <a:extLst>
              <a:ext uri="{FF2B5EF4-FFF2-40B4-BE49-F238E27FC236}">
                <a16:creationId xmlns:a16="http://schemas.microsoft.com/office/drawing/2014/main" id="{09907A24-3901-7920-0B06-FBF7D90088B8}"/>
              </a:ext>
            </a:extLst>
          </p:cNvPr>
          <p:cNvSpPr/>
          <p:nvPr/>
        </p:nvSpPr>
        <p:spPr>
          <a:xfrm>
            <a:off x="-1822112" y="1345059"/>
            <a:ext cx="3644224" cy="36442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266700" dist="63500" sx="108000" sy="1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AE76E9A-DA70-4E34-441B-2E765C809DC8}"/>
              </a:ext>
            </a:extLst>
          </p:cNvPr>
          <p:cNvSpPr txBox="1"/>
          <p:nvPr/>
        </p:nvSpPr>
        <p:spPr>
          <a:xfrm>
            <a:off x="5247368" y="-3722502"/>
            <a:ext cx="63817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 blokk szintű elem az adott elem (például: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Div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) új sort kezd ahelyett, hogy egy másik elem mellé kerülne.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 blokk szintű elemek általában felveszik a szülőelem teljes szélességet és CSS-ben például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width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,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height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és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paddinggal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tudjuk állítani.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8118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EF034-FEBB-FE2F-922F-8262AA77C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BCEE6B58-304B-7736-20E3-F31034599EBC}"/>
              </a:ext>
            </a:extLst>
          </p:cNvPr>
          <p:cNvSpPr/>
          <p:nvPr/>
        </p:nvSpPr>
        <p:spPr>
          <a:xfrm>
            <a:off x="-9302" y="0"/>
            <a:ext cx="12192000" cy="6858000"/>
          </a:xfrm>
          <a:prstGeom prst="rect">
            <a:avLst/>
          </a:prstGeom>
          <a:gradFill flip="none" rotWithShape="1">
            <a:gsLst>
              <a:gs pos="42000">
                <a:schemeClr val="tx1">
                  <a:alpha val="0"/>
                </a:schemeClr>
              </a:gs>
              <a:gs pos="100000">
                <a:schemeClr val="tx1">
                  <a:lumMod val="95000"/>
                  <a:lumOff val="5000"/>
                  <a:alpha val="6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7BDF0168-4B0A-34E9-8254-18EAC86720B3}"/>
              </a:ext>
            </a:extLst>
          </p:cNvPr>
          <p:cNvGrpSpPr/>
          <p:nvPr/>
        </p:nvGrpSpPr>
        <p:grpSpPr>
          <a:xfrm rot="5400000">
            <a:off x="-4989286" y="-1582056"/>
            <a:ext cx="9978572" cy="9978572"/>
            <a:chOff x="-4989286" y="-1306285"/>
            <a:chExt cx="9978572" cy="9978572"/>
          </a:xfrm>
        </p:grpSpPr>
        <p:sp>
          <p:nvSpPr>
            <p:cNvPr id="6" name="Folyamatábra: Összegzés 5">
              <a:extLst>
                <a:ext uri="{FF2B5EF4-FFF2-40B4-BE49-F238E27FC236}">
                  <a16:creationId xmlns:a16="http://schemas.microsoft.com/office/drawing/2014/main" id="{6497F500-6A6F-1549-C998-F6E9C491A19E}"/>
                </a:ext>
              </a:extLst>
            </p:cNvPr>
            <p:cNvSpPr/>
            <p:nvPr/>
          </p:nvSpPr>
          <p:spPr>
            <a:xfrm>
              <a:off x="-4989286" y="-1306285"/>
              <a:ext cx="9978572" cy="9978572"/>
            </a:xfrm>
            <a:prstGeom prst="flowChartSummingJuncti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  <a:effectLst>
              <a:outerShdw blurRad="1041400" dist="38100" dir="2700000" sx="111000" sy="111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Cím 1">
              <a:extLst>
                <a:ext uri="{FF2B5EF4-FFF2-40B4-BE49-F238E27FC236}">
                  <a16:creationId xmlns:a16="http://schemas.microsoft.com/office/drawing/2014/main" id="{6EA11D4B-4043-B3DF-AC63-3157B99887A1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1487145" y="2514599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Bevezető</a:t>
              </a:r>
            </a:p>
          </p:txBody>
        </p:sp>
        <p:sp>
          <p:nvSpPr>
            <p:cNvPr id="8" name="Cím 1">
              <a:extLst>
                <a:ext uri="{FF2B5EF4-FFF2-40B4-BE49-F238E27FC236}">
                  <a16:creationId xmlns:a16="http://schemas.microsoft.com/office/drawing/2014/main" id="{CA64C298-EC62-3F91-11DA-37411F920AB0}"/>
                </a:ext>
              </a:extLst>
            </p:cNvPr>
            <p:cNvSpPr txBox="1">
              <a:spLocks/>
            </p:cNvSpPr>
            <p:nvPr/>
          </p:nvSpPr>
          <p:spPr>
            <a:xfrm>
              <a:off x="-1822112" y="-544286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Blokk</a:t>
              </a:r>
            </a:p>
          </p:txBody>
        </p:sp>
        <p:sp>
          <p:nvSpPr>
            <p:cNvPr id="9" name="Cím 1">
              <a:extLst>
                <a:ext uri="{FF2B5EF4-FFF2-40B4-BE49-F238E27FC236}">
                  <a16:creationId xmlns:a16="http://schemas.microsoft.com/office/drawing/2014/main" id="{106C3A19-B981-0992-BFEF-D8D75C97E8B5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5167308" y="2654071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Cím 1">
              <a:extLst>
                <a:ext uri="{FF2B5EF4-FFF2-40B4-BE49-F238E27FC236}">
                  <a16:creationId xmlns:a16="http://schemas.microsoft.com/office/drawing/2014/main" id="{3DA840C2-AA62-86D8-C58E-55EA6851D7DD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-2630663" y="5838371"/>
              <a:ext cx="5242722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Inline-block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1" name="Ellipszis 10">
            <a:extLst>
              <a:ext uri="{FF2B5EF4-FFF2-40B4-BE49-F238E27FC236}">
                <a16:creationId xmlns:a16="http://schemas.microsoft.com/office/drawing/2014/main" id="{6172EEF5-77AB-1B6E-A8CA-19F2A6DDF74E}"/>
              </a:ext>
            </a:extLst>
          </p:cNvPr>
          <p:cNvSpPr/>
          <p:nvPr/>
        </p:nvSpPr>
        <p:spPr>
          <a:xfrm>
            <a:off x="-1831414" y="1301517"/>
            <a:ext cx="3644224" cy="36442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266700" dist="63500" sx="108000" sy="1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Alcím 2">
            <a:extLst>
              <a:ext uri="{FF2B5EF4-FFF2-40B4-BE49-F238E27FC236}">
                <a16:creationId xmlns:a16="http://schemas.microsoft.com/office/drawing/2014/main" id="{8346FB6A-D4D7-1D7D-CEA1-B00E2BFF5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2997" y="8293396"/>
            <a:ext cx="9144000" cy="1655762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Készítette: Kovács Levente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21C4555D-285B-0ABE-8FEE-652E124366E1}"/>
              </a:ext>
            </a:extLst>
          </p:cNvPr>
          <p:cNvSpPr txBox="1"/>
          <p:nvPr/>
        </p:nvSpPr>
        <p:spPr>
          <a:xfrm>
            <a:off x="5405443" y="661415"/>
            <a:ext cx="63817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Egy blokk szintű elem használatakor az adott elem (például: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Div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) új sort kezd ahelyett, hogy egy másik elem mellé ugyanabban a sorban jelenne meg.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 blokk szintű elemek általában felveszik a szülőelem teljes szélességét és CSS-ben például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width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,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height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és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paddinggal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tudjuk állítani.</a:t>
            </a:r>
          </a:p>
          <a:p>
            <a:endParaRPr lang="hu-HU" dirty="0"/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4770920C-401B-33B0-6199-333DDE96F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5639" y="6125028"/>
            <a:ext cx="8681358" cy="2039257"/>
          </a:xfrm>
        </p:spPr>
        <p:txBody>
          <a:bodyPr>
            <a:normAutofit/>
          </a:bodyPr>
          <a:lstStyle/>
          <a:p>
            <a:r>
              <a:rPr lang="hu-HU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Blokk, </a:t>
            </a:r>
            <a:r>
              <a:rPr lang="hu-HU" sz="4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</a:t>
            </a:r>
            <a:r>
              <a:rPr lang="hu-HU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 és </a:t>
            </a:r>
            <a:r>
              <a:rPr lang="hu-HU" sz="4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inline-block</a:t>
            </a:r>
            <a:endParaRPr lang="hu-HU" sz="4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22" name="Kép 21" descr="A képen képernyőkép, szöveg, Téglala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3B5B2FD-24BB-EED8-4B2A-B8D766357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93" y="715284"/>
            <a:ext cx="4829849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76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06162-AEDF-0110-C91D-21618485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F0C29581-47E3-8C18-D97B-74101FDC5682}"/>
              </a:ext>
            </a:extLst>
          </p:cNvPr>
          <p:cNvSpPr/>
          <p:nvPr/>
        </p:nvSpPr>
        <p:spPr>
          <a:xfrm>
            <a:off x="-9302" y="0"/>
            <a:ext cx="12192000" cy="6858000"/>
          </a:xfrm>
          <a:prstGeom prst="rect">
            <a:avLst/>
          </a:prstGeom>
          <a:gradFill flip="none" rotWithShape="1">
            <a:gsLst>
              <a:gs pos="42000">
                <a:schemeClr val="tx1">
                  <a:alpha val="0"/>
                </a:schemeClr>
              </a:gs>
              <a:gs pos="100000">
                <a:schemeClr val="tx1">
                  <a:lumMod val="95000"/>
                  <a:lumOff val="5000"/>
                  <a:alpha val="6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2C6E17D4-A236-5D8C-3935-914BFEFE6B4C}"/>
              </a:ext>
            </a:extLst>
          </p:cNvPr>
          <p:cNvGrpSpPr/>
          <p:nvPr/>
        </p:nvGrpSpPr>
        <p:grpSpPr>
          <a:xfrm rot="10800000">
            <a:off x="-4947388" y="-1553028"/>
            <a:ext cx="9978572" cy="9978572"/>
            <a:chOff x="-4989286" y="-1306285"/>
            <a:chExt cx="9978572" cy="9978572"/>
          </a:xfrm>
        </p:grpSpPr>
        <p:sp>
          <p:nvSpPr>
            <p:cNvPr id="6" name="Folyamatábra: Összegzés 5">
              <a:extLst>
                <a:ext uri="{FF2B5EF4-FFF2-40B4-BE49-F238E27FC236}">
                  <a16:creationId xmlns:a16="http://schemas.microsoft.com/office/drawing/2014/main" id="{3689895C-DB4A-B507-E538-1F73A6ADFB84}"/>
                </a:ext>
              </a:extLst>
            </p:cNvPr>
            <p:cNvSpPr/>
            <p:nvPr/>
          </p:nvSpPr>
          <p:spPr>
            <a:xfrm>
              <a:off x="-4989286" y="-1306285"/>
              <a:ext cx="9978572" cy="9978572"/>
            </a:xfrm>
            <a:prstGeom prst="flowChartSummingJuncti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  <a:effectLst>
              <a:outerShdw blurRad="1041400" dist="38100" dir="2700000" sx="111000" sy="111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Cím 1">
              <a:extLst>
                <a:ext uri="{FF2B5EF4-FFF2-40B4-BE49-F238E27FC236}">
                  <a16:creationId xmlns:a16="http://schemas.microsoft.com/office/drawing/2014/main" id="{381BAC0B-5629-37E5-658B-2073C124A166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1487145" y="2514599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Bevezető</a:t>
              </a:r>
            </a:p>
          </p:txBody>
        </p:sp>
        <p:sp>
          <p:nvSpPr>
            <p:cNvPr id="8" name="Cím 1">
              <a:extLst>
                <a:ext uri="{FF2B5EF4-FFF2-40B4-BE49-F238E27FC236}">
                  <a16:creationId xmlns:a16="http://schemas.microsoft.com/office/drawing/2014/main" id="{5D22AF78-7584-2986-E814-E5403BA8143B}"/>
                </a:ext>
              </a:extLst>
            </p:cNvPr>
            <p:cNvSpPr txBox="1">
              <a:spLocks/>
            </p:cNvSpPr>
            <p:nvPr/>
          </p:nvSpPr>
          <p:spPr>
            <a:xfrm>
              <a:off x="-1822112" y="-544286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Blokk</a:t>
              </a:r>
            </a:p>
          </p:txBody>
        </p:sp>
        <p:sp>
          <p:nvSpPr>
            <p:cNvPr id="9" name="Cím 1">
              <a:extLst>
                <a:ext uri="{FF2B5EF4-FFF2-40B4-BE49-F238E27FC236}">
                  <a16:creationId xmlns:a16="http://schemas.microsoft.com/office/drawing/2014/main" id="{0CC2FC0A-C9AC-810E-7D9C-D423B6CDF101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5167308" y="2654071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Cím 1">
              <a:extLst>
                <a:ext uri="{FF2B5EF4-FFF2-40B4-BE49-F238E27FC236}">
                  <a16:creationId xmlns:a16="http://schemas.microsoft.com/office/drawing/2014/main" id="{9D1CF429-9666-3E58-1FF9-18DEB7E7E2FD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-2630663" y="5838371"/>
              <a:ext cx="5242722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Inline-block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1" name="Ellipszis 10">
            <a:extLst>
              <a:ext uri="{FF2B5EF4-FFF2-40B4-BE49-F238E27FC236}">
                <a16:creationId xmlns:a16="http://schemas.microsoft.com/office/drawing/2014/main" id="{CBA46A34-132E-ABE5-E849-F33EE72E4081}"/>
              </a:ext>
            </a:extLst>
          </p:cNvPr>
          <p:cNvSpPr/>
          <p:nvPr/>
        </p:nvSpPr>
        <p:spPr>
          <a:xfrm rot="5400000">
            <a:off x="-1789516" y="1330545"/>
            <a:ext cx="3644224" cy="36442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266700" dist="63500" sx="108000" sy="1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2C1F742D-98CE-3504-C39F-98AD1F274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5639" y="6254139"/>
            <a:ext cx="8681358" cy="2039257"/>
          </a:xfrm>
        </p:spPr>
        <p:txBody>
          <a:bodyPr>
            <a:normAutofit/>
          </a:bodyPr>
          <a:lstStyle/>
          <a:p>
            <a:r>
              <a:rPr lang="hu-HU" sz="5400" dirty="0" err="1">
                <a:solidFill>
                  <a:schemeClr val="bg1"/>
                </a:solidFill>
              </a:rPr>
              <a:t>Block</a:t>
            </a:r>
            <a:r>
              <a:rPr lang="hu-HU" sz="5400" dirty="0">
                <a:solidFill>
                  <a:schemeClr val="bg1"/>
                </a:solidFill>
              </a:rPr>
              <a:t>/</a:t>
            </a:r>
            <a:r>
              <a:rPr lang="hu-HU" sz="5400" dirty="0" err="1">
                <a:solidFill>
                  <a:schemeClr val="bg1"/>
                </a:solidFill>
              </a:rPr>
              <a:t>Inline</a:t>
            </a:r>
            <a:r>
              <a:rPr lang="hu-HU" sz="5400" dirty="0">
                <a:solidFill>
                  <a:schemeClr val="bg1"/>
                </a:solidFill>
              </a:rPr>
              <a:t>/</a:t>
            </a:r>
            <a:r>
              <a:rPr lang="hu-HU" sz="5400" dirty="0" err="1">
                <a:solidFill>
                  <a:schemeClr val="bg1"/>
                </a:solidFill>
              </a:rPr>
              <a:t>Inline-block</a:t>
            </a:r>
            <a:endParaRPr lang="hu-HU" sz="5400" dirty="0">
              <a:solidFill>
                <a:schemeClr val="bg1"/>
              </a:solidFill>
            </a:endParaRPr>
          </a:p>
        </p:txBody>
      </p:sp>
      <p:sp>
        <p:nvSpPr>
          <p:cNvPr id="20" name="Alcím 2">
            <a:extLst>
              <a:ext uri="{FF2B5EF4-FFF2-40B4-BE49-F238E27FC236}">
                <a16:creationId xmlns:a16="http://schemas.microsoft.com/office/drawing/2014/main" id="{BE063BCC-64C3-45E4-FE81-F08D5329F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2997" y="8293396"/>
            <a:ext cx="9144000" cy="1655762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Készítette: Kovács Levente</a:t>
            </a:r>
          </a:p>
        </p:txBody>
      </p:sp>
      <p:pic>
        <p:nvPicPr>
          <p:cNvPr id="3" name="Kép 2" descr="A képen képernyőkép, szöveg, Téglala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E446373-58CA-C408-387B-F178234DE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790" y="698685"/>
            <a:ext cx="4829849" cy="5401429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9A5D326D-6DAE-744C-600C-392182542A75}"/>
              </a:ext>
            </a:extLst>
          </p:cNvPr>
          <p:cNvSpPr txBox="1"/>
          <p:nvPr/>
        </p:nvSpPr>
        <p:spPr>
          <a:xfrm>
            <a:off x="5405443" y="661415"/>
            <a:ext cx="63817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 sor (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) szintű elem azt jelenti, hogy egy adott elem (például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img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) ellenben a blokkal nem új sort kezd, hanem ugyanabban a sorban folytatja.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Az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elemek mindig csak annyi helyet foglalnak ami a tartalmukhoz szükséges, ezért nem igazán állíthatók (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width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,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height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stb.)</a:t>
            </a:r>
            <a:endParaRPr lang="hu-HU" dirty="0"/>
          </a:p>
        </p:txBody>
      </p:sp>
      <p:pic>
        <p:nvPicPr>
          <p:cNvPr id="16" name="Kép 15" descr="A képen képernyőkép, szöveg, Téglala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90F0167-2BB7-F929-DDD1-AA7B6D3DD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583" y="4775750"/>
            <a:ext cx="7202714" cy="1712088"/>
          </a:xfrm>
          <a:prstGeom prst="rect">
            <a:avLst/>
          </a:prstGeom>
        </p:spPr>
      </p:pic>
      <p:sp>
        <p:nvSpPr>
          <p:cNvPr id="21" name="Szövegdoboz 20">
            <a:extLst>
              <a:ext uri="{FF2B5EF4-FFF2-40B4-BE49-F238E27FC236}">
                <a16:creationId xmlns:a16="http://schemas.microsoft.com/office/drawing/2014/main" id="{674A7E30-D9BE-50D4-A7B9-94B2345E8C9B}"/>
              </a:ext>
            </a:extLst>
          </p:cNvPr>
          <p:cNvSpPr txBox="1"/>
          <p:nvPr/>
        </p:nvSpPr>
        <p:spPr>
          <a:xfrm>
            <a:off x="5174122" y="7156205"/>
            <a:ext cx="63817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Egy blokk szintű elem használatakor az adott elem (például: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Div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) új sort kezd ahelyett, hogy egy másik elem mellé ugyanabban a sorban jelenne meg.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 blokk szintű elemek általában felveszik a szülőelem teljes szélességét és CSS-ben például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width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,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height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és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paddinggal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tudjuk állítani.</a:t>
            </a:r>
          </a:p>
          <a:p>
            <a:endParaRPr lang="hu-HU" dirty="0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6FF69277-0198-6574-235E-32304F01D6FF}"/>
              </a:ext>
            </a:extLst>
          </p:cNvPr>
          <p:cNvSpPr txBox="1"/>
          <p:nvPr/>
        </p:nvSpPr>
        <p:spPr>
          <a:xfrm>
            <a:off x="5405443" y="-3094828"/>
            <a:ext cx="63817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Az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inline-block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megjelenítési mód a blokk és az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tulajdonságait ötvözi, az elemeket egymás mellett helyezi el, új sor kezdése nélkül.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Az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inline-block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ezek mellett a blokkhoz hasonlóan szerkeszthető is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6189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5A519-68CB-F65C-2313-9CAE8BFB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63CB48DA-7B6B-6C4D-7951-87FA442901B4}"/>
              </a:ext>
            </a:extLst>
          </p:cNvPr>
          <p:cNvSpPr/>
          <p:nvPr/>
        </p:nvSpPr>
        <p:spPr>
          <a:xfrm>
            <a:off x="-9302" y="0"/>
            <a:ext cx="12192000" cy="6858000"/>
          </a:xfrm>
          <a:prstGeom prst="rect">
            <a:avLst/>
          </a:prstGeom>
          <a:gradFill flip="none" rotWithShape="1">
            <a:gsLst>
              <a:gs pos="42000">
                <a:schemeClr val="tx1">
                  <a:alpha val="0"/>
                </a:schemeClr>
              </a:gs>
              <a:gs pos="100000">
                <a:schemeClr val="tx1">
                  <a:lumMod val="95000"/>
                  <a:lumOff val="5000"/>
                  <a:alpha val="6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21" name="Kép 20" descr="A képen képernyőkép, Téglalap, szöveg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E55FA33-72F5-5209-0A72-009A23480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4" y="3805762"/>
            <a:ext cx="6872727" cy="2857497"/>
          </a:xfrm>
          <a:prstGeom prst="rect">
            <a:avLst/>
          </a:prstGeom>
        </p:spPr>
      </p:pic>
      <p:sp>
        <p:nvSpPr>
          <p:cNvPr id="19" name="Cím 1">
            <a:extLst>
              <a:ext uri="{FF2B5EF4-FFF2-40B4-BE49-F238E27FC236}">
                <a16:creationId xmlns:a16="http://schemas.microsoft.com/office/drawing/2014/main" id="{EEFB9900-2551-6A8A-CC3E-155AE76B0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5639" y="6254139"/>
            <a:ext cx="8681358" cy="2039257"/>
          </a:xfrm>
        </p:spPr>
        <p:txBody>
          <a:bodyPr>
            <a:normAutofit/>
          </a:bodyPr>
          <a:lstStyle/>
          <a:p>
            <a:r>
              <a:rPr lang="hu-HU" sz="5400" dirty="0" err="1">
                <a:solidFill>
                  <a:schemeClr val="bg1"/>
                </a:solidFill>
              </a:rPr>
              <a:t>Block</a:t>
            </a:r>
            <a:r>
              <a:rPr lang="hu-HU" sz="5400" dirty="0">
                <a:solidFill>
                  <a:schemeClr val="bg1"/>
                </a:solidFill>
              </a:rPr>
              <a:t>/</a:t>
            </a:r>
            <a:r>
              <a:rPr lang="hu-HU" sz="5400" dirty="0" err="1">
                <a:solidFill>
                  <a:schemeClr val="bg1"/>
                </a:solidFill>
              </a:rPr>
              <a:t>Inline</a:t>
            </a:r>
            <a:r>
              <a:rPr lang="hu-HU" sz="5400" dirty="0">
                <a:solidFill>
                  <a:schemeClr val="bg1"/>
                </a:solidFill>
              </a:rPr>
              <a:t>/</a:t>
            </a:r>
            <a:r>
              <a:rPr lang="hu-HU" sz="5400" dirty="0" err="1">
                <a:solidFill>
                  <a:schemeClr val="bg1"/>
                </a:solidFill>
              </a:rPr>
              <a:t>Inline-block</a:t>
            </a:r>
            <a:endParaRPr lang="hu-HU" sz="5400" dirty="0">
              <a:solidFill>
                <a:schemeClr val="bg1"/>
              </a:solidFill>
            </a:endParaRPr>
          </a:p>
        </p:txBody>
      </p:sp>
      <p:sp>
        <p:nvSpPr>
          <p:cNvPr id="20" name="Alcím 2">
            <a:extLst>
              <a:ext uri="{FF2B5EF4-FFF2-40B4-BE49-F238E27FC236}">
                <a16:creationId xmlns:a16="http://schemas.microsoft.com/office/drawing/2014/main" id="{007ED692-BD96-3D4C-75DD-5EE8D9036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2997" y="8293396"/>
            <a:ext cx="9144000" cy="1655762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Készítette: Kovács Levente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8319D279-6B4C-23F9-24AC-B1F643309945}"/>
              </a:ext>
            </a:extLst>
          </p:cNvPr>
          <p:cNvSpPr txBox="1"/>
          <p:nvPr/>
        </p:nvSpPr>
        <p:spPr>
          <a:xfrm>
            <a:off x="5405443" y="661415"/>
            <a:ext cx="63817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Az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inline-block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megjelenítési mód a blokk és az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tulajdonságait ötvözi, az elemeket egymás mellett helyezi el, új sor kezdése nélkül.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u-HU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Az </a:t>
            </a:r>
            <a:r>
              <a:rPr lang="hu-HU" sz="2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inline-block</a:t>
            </a:r>
            <a:r>
              <a:rPr lang="hu-HU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ezek mellett a blokkhoz hasonlóan szerkeszthető is</a:t>
            </a:r>
            <a:endParaRPr lang="hu-HU" dirty="0"/>
          </a:p>
        </p:txBody>
      </p:sp>
      <p:pic>
        <p:nvPicPr>
          <p:cNvPr id="15" name="Kép 14" descr="A képen képernyőkép, szöveg, Téglala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7179B6B-45B4-8607-E107-F14354BCE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383" y="4718160"/>
            <a:ext cx="7202714" cy="1712088"/>
          </a:xfrm>
          <a:prstGeom prst="rect">
            <a:avLst/>
          </a:prstGeom>
        </p:spPr>
      </p:pic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8C6C4DF8-EEDD-8E26-197E-7796E37CBAF1}"/>
              </a:ext>
            </a:extLst>
          </p:cNvPr>
          <p:cNvGrpSpPr/>
          <p:nvPr/>
        </p:nvGrpSpPr>
        <p:grpSpPr>
          <a:xfrm rot="16200000">
            <a:off x="-4954814" y="-1523999"/>
            <a:ext cx="9978572" cy="9978572"/>
            <a:chOff x="-4989286" y="-1306285"/>
            <a:chExt cx="9978572" cy="9978572"/>
          </a:xfrm>
        </p:grpSpPr>
        <p:sp>
          <p:nvSpPr>
            <p:cNvPr id="6" name="Folyamatábra: Összegzés 5">
              <a:extLst>
                <a:ext uri="{FF2B5EF4-FFF2-40B4-BE49-F238E27FC236}">
                  <a16:creationId xmlns:a16="http://schemas.microsoft.com/office/drawing/2014/main" id="{3AEE6948-5E7B-BE92-281D-845E9A51AF16}"/>
                </a:ext>
              </a:extLst>
            </p:cNvPr>
            <p:cNvSpPr/>
            <p:nvPr/>
          </p:nvSpPr>
          <p:spPr>
            <a:xfrm>
              <a:off x="-4989286" y="-1306285"/>
              <a:ext cx="9978572" cy="9978572"/>
            </a:xfrm>
            <a:prstGeom prst="flowChartSummingJuncti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  <a:effectLst>
              <a:outerShdw blurRad="1041400" dist="38100" dir="2700000" sx="111000" sy="111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Cím 1">
              <a:extLst>
                <a:ext uri="{FF2B5EF4-FFF2-40B4-BE49-F238E27FC236}">
                  <a16:creationId xmlns:a16="http://schemas.microsoft.com/office/drawing/2014/main" id="{17FC47F9-C79C-6DE9-018D-DC35DC93F39B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1487145" y="2514599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Bevezető</a:t>
              </a:r>
            </a:p>
          </p:txBody>
        </p:sp>
        <p:sp>
          <p:nvSpPr>
            <p:cNvPr id="8" name="Cím 1">
              <a:extLst>
                <a:ext uri="{FF2B5EF4-FFF2-40B4-BE49-F238E27FC236}">
                  <a16:creationId xmlns:a16="http://schemas.microsoft.com/office/drawing/2014/main" id="{EE65347E-BA98-9AEA-DFBF-9CF8155B73A2}"/>
                </a:ext>
              </a:extLst>
            </p:cNvPr>
            <p:cNvSpPr txBox="1">
              <a:spLocks/>
            </p:cNvSpPr>
            <p:nvPr/>
          </p:nvSpPr>
          <p:spPr>
            <a:xfrm>
              <a:off x="-1822112" y="-544286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Blokk</a:t>
              </a:r>
            </a:p>
          </p:txBody>
        </p:sp>
        <p:sp>
          <p:nvSpPr>
            <p:cNvPr id="9" name="Cím 1">
              <a:extLst>
                <a:ext uri="{FF2B5EF4-FFF2-40B4-BE49-F238E27FC236}">
                  <a16:creationId xmlns:a16="http://schemas.microsoft.com/office/drawing/2014/main" id="{1A78A803-38E5-597D-D263-895EF80A98C1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5167308" y="2654071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Cím 1">
              <a:extLst>
                <a:ext uri="{FF2B5EF4-FFF2-40B4-BE49-F238E27FC236}">
                  <a16:creationId xmlns:a16="http://schemas.microsoft.com/office/drawing/2014/main" id="{07B61D88-5CE1-6DAB-89DC-CF3D1BB227DC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-2630663" y="5838371"/>
              <a:ext cx="5242722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Inline-block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1" name="Ellipszis 10">
            <a:extLst>
              <a:ext uri="{FF2B5EF4-FFF2-40B4-BE49-F238E27FC236}">
                <a16:creationId xmlns:a16="http://schemas.microsoft.com/office/drawing/2014/main" id="{774C7C96-99F8-5EBC-9674-779868D002F4}"/>
              </a:ext>
            </a:extLst>
          </p:cNvPr>
          <p:cNvSpPr/>
          <p:nvPr/>
        </p:nvSpPr>
        <p:spPr>
          <a:xfrm rot="10800000">
            <a:off x="-1796942" y="1359574"/>
            <a:ext cx="3644224" cy="36442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266700" dist="63500" sx="108000" sy="1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22464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A6D48-DE02-763E-397F-12EB3370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D972D997-F84E-4785-F6E6-730F4C3CFEC2}"/>
              </a:ext>
            </a:extLst>
          </p:cNvPr>
          <p:cNvSpPr/>
          <p:nvPr/>
        </p:nvSpPr>
        <p:spPr>
          <a:xfrm>
            <a:off x="-9302" y="0"/>
            <a:ext cx="12192000" cy="6858000"/>
          </a:xfrm>
          <a:prstGeom prst="rect">
            <a:avLst/>
          </a:prstGeom>
          <a:gradFill flip="none" rotWithShape="1">
            <a:gsLst>
              <a:gs pos="42000">
                <a:schemeClr val="tx1">
                  <a:alpha val="0"/>
                </a:schemeClr>
              </a:gs>
              <a:gs pos="100000">
                <a:schemeClr val="tx1">
                  <a:lumMod val="95000"/>
                  <a:lumOff val="5000"/>
                  <a:alpha val="6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0E349841-835A-77A3-24C0-5BC65B3FF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321" y="2125770"/>
            <a:ext cx="8681358" cy="2039257"/>
          </a:xfrm>
        </p:spPr>
        <p:txBody>
          <a:bodyPr>
            <a:normAutofit/>
          </a:bodyPr>
          <a:lstStyle/>
          <a:p>
            <a:r>
              <a:rPr lang="hu-HU" sz="5400" dirty="0">
                <a:solidFill>
                  <a:schemeClr val="bg1"/>
                </a:solidFill>
              </a:rPr>
              <a:t>Köszönöm a figyelmet!</a:t>
            </a:r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D67CB6AD-AAE0-CA8B-B7D3-BE903728FB0F}"/>
              </a:ext>
            </a:extLst>
          </p:cNvPr>
          <p:cNvGrpSpPr/>
          <p:nvPr/>
        </p:nvGrpSpPr>
        <p:grpSpPr>
          <a:xfrm rot="5400000">
            <a:off x="12182698" y="-1685176"/>
            <a:ext cx="9978572" cy="9978572"/>
            <a:chOff x="-4989286" y="-1306285"/>
            <a:chExt cx="9978572" cy="9978572"/>
          </a:xfrm>
        </p:grpSpPr>
        <p:sp>
          <p:nvSpPr>
            <p:cNvPr id="6" name="Folyamatábra: Összegzés 5">
              <a:extLst>
                <a:ext uri="{FF2B5EF4-FFF2-40B4-BE49-F238E27FC236}">
                  <a16:creationId xmlns:a16="http://schemas.microsoft.com/office/drawing/2014/main" id="{B44B9582-9D72-38F5-95EE-DB3E72E2A1E6}"/>
                </a:ext>
              </a:extLst>
            </p:cNvPr>
            <p:cNvSpPr/>
            <p:nvPr/>
          </p:nvSpPr>
          <p:spPr>
            <a:xfrm>
              <a:off x="-4989286" y="-1306285"/>
              <a:ext cx="9978572" cy="9978572"/>
            </a:xfrm>
            <a:prstGeom prst="flowChartSummingJuncti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  <a:effectLst>
              <a:outerShdw blurRad="1041400" dist="38100" dir="2700000" sx="111000" sy="111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" name="Cím 1">
              <a:extLst>
                <a:ext uri="{FF2B5EF4-FFF2-40B4-BE49-F238E27FC236}">
                  <a16:creationId xmlns:a16="http://schemas.microsoft.com/office/drawing/2014/main" id="{E4E26E12-0340-2367-F82D-64B82A98C2EA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1487145" y="2514599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Bevezető</a:t>
              </a:r>
            </a:p>
          </p:txBody>
        </p:sp>
        <p:sp>
          <p:nvSpPr>
            <p:cNvPr id="8" name="Cím 1">
              <a:extLst>
                <a:ext uri="{FF2B5EF4-FFF2-40B4-BE49-F238E27FC236}">
                  <a16:creationId xmlns:a16="http://schemas.microsoft.com/office/drawing/2014/main" id="{CD50D9E4-D829-0D4B-4014-10C75CA72C31}"/>
                </a:ext>
              </a:extLst>
            </p:cNvPr>
            <p:cNvSpPr txBox="1">
              <a:spLocks/>
            </p:cNvSpPr>
            <p:nvPr/>
          </p:nvSpPr>
          <p:spPr>
            <a:xfrm>
              <a:off x="-1822112" y="-544286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Blokk</a:t>
              </a:r>
            </a:p>
          </p:txBody>
        </p:sp>
        <p:sp>
          <p:nvSpPr>
            <p:cNvPr id="9" name="Cím 1">
              <a:extLst>
                <a:ext uri="{FF2B5EF4-FFF2-40B4-BE49-F238E27FC236}">
                  <a16:creationId xmlns:a16="http://schemas.microsoft.com/office/drawing/2014/main" id="{9439516D-5252-7024-7439-8887E25CB300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5167308" y="2654071"/>
              <a:ext cx="3644223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Cím 1">
              <a:extLst>
                <a:ext uri="{FF2B5EF4-FFF2-40B4-BE49-F238E27FC236}">
                  <a16:creationId xmlns:a16="http://schemas.microsoft.com/office/drawing/2014/main" id="{0D757AFE-C0AB-2D08-3498-CCA57DE530DF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-2630663" y="5838371"/>
              <a:ext cx="5242722" cy="203925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hu-HU" b="1" dirty="0" err="1">
                  <a:solidFill>
                    <a:schemeClr val="bg1"/>
                  </a:solidFill>
                  <a:latin typeface="Bahnschrift SemiBold" panose="020B0502040204020203" pitchFamily="34" charset="0"/>
                </a:rPr>
                <a:t>Inline-block</a:t>
              </a:r>
              <a:endParaRPr lang="hu-HU" b="1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1" name="Ellipszis 10">
            <a:extLst>
              <a:ext uri="{FF2B5EF4-FFF2-40B4-BE49-F238E27FC236}">
                <a16:creationId xmlns:a16="http://schemas.microsoft.com/office/drawing/2014/main" id="{979290C9-073E-6831-ABAE-BF3D1E7D9B0A}"/>
              </a:ext>
            </a:extLst>
          </p:cNvPr>
          <p:cNvSpPr/>
          <p:nvPr/>
        </p:nvSpPr>
        <p:spPr>
          <a:xfrm>
            <a:off x="15340570" y="1198397"/>
            <a:ext cx="3644224" cy="36442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266700" dist="63500" sx="108000" sy="1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" name="Alcím 2">
            <a:extLst>
              <a:ext uri="{FF2B5EF4-FFF2-40B4-BE49-F238E27FC236}">
                <a16:creationId xmlns:a16="http://schemas.microsoft.com/office/drawing/2014/main" id="{EFFDC689-8224-EA00-231E-58197B9A7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2997" y="8293396"/>
            <a:ext cx="9144000" cy="1655762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Készítette: Kovács Levente</a:t>
            </a:r>
          </a:p>
        </p:txBody>
      </p:sp>
    </p:spTree>
    <p:extLst>
      <p:ext uri="{BB962C8B-B14F-4D97-AF65-F5344CB8AC3E}">
        <p14:creationId xmlns:p14="http://schemas.microsoft.com/office/powerpoint/2010/main" val="1893582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TM03457515[[fn=Nézet]]</Template>
  <TotalTime>446</TotalTime>
  <Words>331</Words>
  <Application>Microsoft Office PowerPoint</Application>
  <PresentationFormat>Szélesvásznú</PresentationFormat>
  <Paragraphs>49</Paragraphs>
  <Slides>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1" baseType="lpstr">
      <vt:lpstr>Aptos Display</vt:lpstr>
      <vt:lpstr>Arial</vt:lpstr>
      <vt:lpstr>Bahnschrift SemiBold</vt:lpstr>
      <vt:lpstr>Calibri</vt:lpstr>
      <vt:lpstr>Calibri Light</vt:lpstr>
      <vt:lpstr>Office-téma</vt:lpstr>
      <vt:lpstr>Blokk, inline és inline-block</vt:lpstr>
      <vt:lpstr>Blokk, inline és inline-block</vt:lpstr>
      <vt:lpstr>Block/Inline/Inline-block</vt:lpstr>
      <vt:lpstr>Block/Inline/Inline-block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 Kovács</dc:creator>
  <cp:lastModifiedBy>Levente Kovács</cp:lastModifiedBy>
  <cp:revision>2</cp:revision>
  <dcterms:created xsi:type="dcterms:W3CDTF">2025-12-26T18:09:13Z</dcterms:created>
  <dcterms:modified xsi:type="dcterms:W3CDTF">2025-12-31T13:46:25Z</dcterms:modified>
</cp:coreProperties>
</file>